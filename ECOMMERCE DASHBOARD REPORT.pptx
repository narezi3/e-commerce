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7" r:id="rId3"/>
    <p:sldId id="260" r:id="rId4"/>
    <p:sldId id="261" r:id="rId5"/>
    <p:sldId id="258" r:id="rId6"/>
    <p:sldId id="259"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4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960A7908-8113-4910-9979-7BEE895A41AE}"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27991865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0A7908-8113-4910-9979-7BEE895A41AE}"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2877863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960A7908-8113-4910-9979-7BEE895A41AE}"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85549700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960A7908-8113-4910-9979-7BEE895A41AE}" type="datetimeFigureOut">
              <a:rPr lang="en-US" smtClean="0"/>
              <a:t>3/3/2026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933141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960A7908-8113-4910-9979-7BEE895A41AE}"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5C7666-4DB0-4EC2-A36A-39B9EF413A50}"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14757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0A7908-8113-4910-9979-7BEE895A41AE}"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2560869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0A7908-8113-4910-9979-7BEE895A41AE}"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4269448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960A7908-8113-4910-9979-7BEE895A41AE}" type="datetimeFigureOut">
              <a:rPr lang="en-US" smtClean="0"/>
              <a:t>3/3/2026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594771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960A7908-8113-4910-9979-7BEE895A41AE}" type="datetimeFigureOut">
              <a:rPr lang="en-US" smtClean="0"/>
              <a:t>3/3/2026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a:t>
              </a:t>
            </a:r>
            <a:endParaRPr lang="en-US" dirty="0"/>
          </a:p>
        </p:txBody>
      </p:sp>
      <p:sp>
        <p:nvSpPr>
          <p:cNvPr id="10" name="Slide Number Placeholder 9"/>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3955466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0A7908-8113-4910-9979-7BEE895A41AE}"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1300553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0A7908-8113-4910-9979-7BEE895A41AE}"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C7666-4DB0-4EC2-A36A-39B9EF413A50}" type="slidenum">
              <a:rPr lang="en-US" smtClean="0"/>
              <a:t>‹#›</a:t>
            </a:fld>
            <a:endParaRPr lang="en-US"/>
          </a:p>
        </p:txBody>
      </p:sp>
    </p:spTree>
    <p:extLst>
      <p:ext uri="{BB962C8B-B14F-4D97-AF65-F5344CB8AC3E}">
        <p14:creationId xmlns:p14="http://schemas.microsoft.com/office/powerpoint/2010/main" val="1788940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60A7908-8113-4910-9979-7BEE895A41AE}" type="datetimeFigureOut">
              <a:rPr lang="en-US" smtClean="0"/>
              <a:t>3/3/2026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95C7666-4DB0-4EC2-A36A-39B9EF413A50}" type="slidenum">
              <a:rPr lang="en-US" smtClean="0"/>
              <a:t>‹#›</a:t>
            </a:fld>
            <a:endParaRPr lang="en-US"/>
          </a:p>
        </p:txBody>
      </p:sp>
    </p:spTree>
    <p:extLst>
      <p:ext uri="{BB962C8B-B14F-4D97-AF65-F5344CB8AC3E}">
        <p14:creationId xmlns:p14="http://schemas.microsoft.com/office/powerpoint/2010/main" val="108810488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1EAA-5D80-B57F-E992-D0E10F9BE5D4}"/>
              </a:ext>
            </a:extLst>
          </p:cNvPr>
          <p:cNvSpPr>
            <a:spLocks noGrp="1"/>
          </p:cNvSpPr>
          <p:nvPr>
            <p:ph type="ctrTitle"/>
          </p:nvPr>
        </p:nvSpPr>
        <p:spPr>
          <a:xfrm>
            <a:off x="1600200" y="2386744"/>
            <a:ext cx="10041194" cy="1645920"/>
          </a:xfrm>
        </p:spPr>
        <p:txBody>
          <a:bodyPr/>
          <a:lstStyle/>
          <a:p>
            <a:pPr algn="ctr"/>
            <a:r>
              <a:rPr lang="en-US" b="1" dirty="0"/>
              <a:t>ECOMMERCE DASHBOARD REPORT</a:t>
            </a:r>
          </a:p>
        </p:txBody>
      </p:sp>
      <p:sp>
        <p:nvSpPr>
          <p:cNvPr id="3" name="Subtitle 2">
            <a:extLst>
              <a:ext uri="{FF2B5EF4-FFF2-40B4-BE49-F238E27FC236}">
                <a16:creationId xmlns:a16="http://schemas.microsoft.com/office/drawing/2014/main" id="{135E3139-4D58-A781-64A3-F6B7AB12AD5E}"/>
              </a:ext>
            </a:extLst>
          </p:cNvPr>
          <p:cNvSpPr>
            <a:spLocks noGrp="1"/>
          </p:cNvSpPr>
          <p:nvPr>
            <p:ph type="subTitle" idx="1"/>
          </p:nvPr>
        </p:nvSpPr>
        <p:spPr>
          <a:xfrm>
            <a:off x="1600200" y="4231804"/>
            <a:ext cx="9815052" cy="1069848"/>
          </a:xfrm>
        </p:spPr>
        <p:txBody>
          <a:bodyPr/>
          <a:lstStyle/>
          <a:p>
            <a:r>
              <a:rPr lang="en-US" b="1" i="1" dirty="0">
                <a:solidFill>
                  <a:srgbClr val="00B050"/>
                </a:solidFill>
                <a:latin typeface="+mj-lt"/>
              </a:rPr>
              <a:t>KEY FINDINGS FROM THE POWER BI ANALYSIS REPORT FOR THE MANAGEMENT PERUSAL</a:t>
            </a:r>
          </a:p>
        </p:txBody>
      </p:sp>
    </p:spTree>
    <p:extLst>
      <p:ext uri="{BB962C8B-B14F-4D97-AF65-F5344CB8AC3E}">
        <p14:creationId xmlns:p14="http://schemas.microsoft.com/office/powerpoint/2010/main" val="511925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7659-0F87-C413-58BD-7021B0EB14AB}"/>
              </a:ext>
            </a:extLst>
          </p:cNvPr>
          <p:cNvSpPr>
            <a:spLocks noGrp="1"/>
          </p:cNvSpPr>
          <p:nvPr>
            <p:ph type="title"/>
          </p:nvPr>
        </p:nvSpPr>
        <p:spPr>
          <a:xfrm>
            <a:off x="1069848" y="484632"/>
            <a:ext cx="10058400" cy="990207"/>
          </a:xfrm>
        </p:spPr>
        <p:txBody>
          <a:bodyPr/>
          <a:lstStyle/>
          <a:p>
            <a:pPr algn="ctr"/>
            <a:r>
              <a:rPr lang="en-US" b="1" dirty="0"/>
              <a:t>EXECUTIVE SUMMARY</a:t>
            </a:r>
          </a:p>
        </p:txBody>
      </p:sp>
      <p:sp>
        <p:nvSpPr>
          <p:cNvPr id="3" name="Content Placeholder 2">
            <a:extLst>
              <a:ext uri="{FF2B5EF4-FFF2-40B4-BE49-F238E27FC236}">
                <a16:creationId xmlns:a16="http://schemas.microsoft.com/office/drawing/2014/main" id="{81788B1A-06B8-38FC-AB90-27F3BBC11234}"/>
              </a:ext>
            </a:extLst>
          </p:cNvPr>
          <p:cNvSpPr>
            <a:spLocks noGrp="1"/>
          </p:cNvSpPr>
          <p:nvPr>
            <p:ph idx="1"/>
          </p:nvPr>
        </p:nvSpPr>
        <p:spPr>
          <a:xfrm>
            <a:off x="1069848" y="1632155"/>
            <a:ext cx="10058400" cy="4540045"/>
          </a:xfrm>
        </p:spPr>
        <p:txBody>
          <a:bodyPr>
            <a:normAutofit fontScale="92500" lnSpcReduction="20000"/>
          </a:bodyPr>
          <a:lstStyle/>
          <a:p>
            <a:pPr>
              <a:buFont typeface="Wingdings" panose="05000000000000000000" pitchFamily="2" charset="2"/>
              <a:buChar char="q"/>
            </a:pPr>
            <a:r>
              <a:rPr lang="en-US" dirty="0"/>
              <a:t> YTD Sales is 11.53M with a slight difference of 0.83% compare to the PYTD sales.</a:t>
            </a:r>
          </a:p>
          <a:p>
            <a:pPr>
              <a:buFont typeface="Wingdings" panose="05000000000000000000" pitchFamily="2" charset="2"/>
              <a:buChar char="q"/>
            </a:pPr>
            <a:endParaRPr lang="en-US" dirty="0"/>
          </a:p>
          <a:p>
            <a:pPr>
              <a:buFont typeface="Wingdings" panose="05000000000000000000" pitchFamily="2" charset="2"/>
              <a:buChar char="q"/>
            </a:pPr>
            <a:r>
              <a:rPr lang="en-US" dirty="0"/>
              <a:t> PYTD is 11.6M</a:t>
            </a:r>
          </a:p>
          <a:p>
            <a:pPr marL="0" indent="0">
              <a:buNone/>
            </a:pPr>
            <a:endParaRPr lang="en-US" dirty="0"/>
          </a:p>
          <a:p>
            <a:pPr>
              <a:buFont typeface="Wingdings" panose="05000000000000000000" pitchFamily="2" charset="2"/>
              <a:buChar char="q"/>
            </a:pPr>
            <a:r>
              <a:rPr lang="en-US" dirty="0"/>
              <a:t> YTD Profits are 1.34M with an increase of 4.50% compared to the previous year.</a:t>
            </a:r>
          </a:p>
          <a:p>
            <a:pPr>
              <a:buFont typeface="Wingdings" panose="05000000000000000000" pitchFamily="2" charset="2"/>
              <a:buChar char="q"/>
            </a:pPr>
            <a:endParaRPr lang="en-US" dirty="0"/>
          </a:p>
          <a:p>
            <a:pPr>
              <a:buFont typeface="Wingdings" panose="05000000000000000000" pitchFamily="2" charset="2"/>
              <a:buChar char="q"/>
            </a:pPr>
            <a:r>
              <a:rPr lang="en-US" dirty="0"/>
              <a:t> YTD Quantity sold is 107k with a decrease margin of -7.29% compared to the previous year</a:t>
            </a:r>
          </a:p>
          <a:p>
            <a:pPr>
              <a:buFont typeface="Wingdings" panose="05000000000000000000" pitchFamily="2" charset="2"/>
              <a:buChar char="q"/>
            </a:pPr>
            <a:endParaRPr lang="en-US" dirty="0"/>
          </a:p>
          <a:p>
            <a:pPr>
              <a:buFont typeface="Wingdings" panose="05000000000000000000" pitchFamily="2" charset="2"/>
              <a:buChar char="q"/>
            </a:pPr>
            <a:r>
              <a:rPr lang="en-US" dirty="0"/>
              <a:t> YTD Profit Margin is 0.12</a:t>
            </a:r>
          </a:p>
          <a:p>
            <a:pPr>
              <a:buFont typeface="Wingdings" panose="05000000000000000000" pitchFamily="2" charset="2"/>
              <a:buChar char="q"/>
            </a:pPr>
            <a:endParaRPr lang="en-US" dirty="0"/>
          </a:p>
          <a:p>
            <a:pPr>
              <a:buFont typeface="Wingdings" panose="05000000000000000000" pitchFamily="2" charset="2"/>
              <a:buChar char="q"/>
            </a:pPr>
            <a:r>
              <a:rPr lang="en-US" dirty="0"/>
              <a:t> Consumer contributed the highest YTD with 5.98M</a:t>
            </a:r>
          </a:p>
          <a:p>
            <a:pPr>
              <a:buFont typeface="Wingdings" panose="05000000000000000000" pitchFamily="2" charset="2"/>
              <a:buChar char="q"/>
            </a:pPr>
            <a:endParaRPr lang="en-US" dirty="0"/>
          </a:p>
          <a:p>
            <a:pPr>
              <a:buFont typeface="Wingdings" panose="05000000000000000000" pitchFamily="2" charset="2"/>
              <a:buChar char="q"/>
            </a:pPr>
            <a:r>
              <a:rPr lang="en-US" dirty="0"/>
              <a:t> Home Office contributed the least YTD with 2.05M</a:t>
            </a:r>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Tree>
    <p:extLst>
      <p:ext uri="{BB962C8B-B14F-4D97-AF65-F5344CB8AC3E}">
        <p14:creationId xmlns:p14="http://schemas.microsoft.com/office/powerpoint/2010/main" val="6087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5005F-737F-EF7E-55F5-A159ACB53C34}"/>
              </a:ext>
            </a:extLst>
          </p:cNvPr>
          <p:cNvSpPr>
            <a:spLocks noGrp="1"/>
          </p:cNvSpPr>
          <p:nvPr>
            <p:ph type="title"/>
          </p:nvPr>
        </p:nvSpPr>
        <p:spPr>
          <a:xfrm>
            <a:off x="1069848" y="484632"/>
            <a:ext cx="10058400" cy="1275342"/>
          </a:xfrm>
        </p:spPr>
        <p:txBody>
          <a:bodyPr/>
          <a:lstStyle/>
          <a:p>
            <a:pPr algn="ctr"/>
            <a:r>
              <a:rPr lang="en-US" b="1" dirty="0"/>
              <a:t>SALES PERFORMANCE BY PRODUCT</a:t>
            </a:r>
          </a:p>
        </p:txBody>
      </p:sp>
      <p:sp>
        <p:nvSpPr>
          <p:cNvPr id="3" name="Content Placeholder 2">
            <a:extLst>
              <a:ext uri="{FF2B5EF4-FFF2-40B4-BE49-F238E27FC236}">
                <a16:creationId xmlns:a16="http://schemas.microsoft.com/office/drawing/2014/main" id="{F43BDC9F-19A1-8F7C-A21E-9F76991A7D58}"/>
              </a:ext>
            </a:extLst>
          </p:cNvPr>
          <p:cNvSpPr>
            <a:spLocks noGrp="1"/>
          </p:cNvSpPr>
          <p:nvPr>
            <p:ph idx="1"/>
          </p:nvPr>
        </p:nvSpPr>
        <p:spPr>
          <a:xfrm>
            <a:off x="1069848" y="2121408"/>
            <a:ext cx="10058400" cy="4505534"/>
          </a:xfrm>
        </p:spPr>
        <p:txBody>
          <a:bodyPr>
            <a:normAutofit fontScale="92500" lnSpcReduction="20000"/>
          </a:bodyPr>
          <a:lstStyle/>
          <a:p>
            <a:pPr marL="0" indent="0">
              <a:buNone/>
            </a:pPr>
            <a:r>
              <a:rPr lang="en-US" b="1" i="1" dirty="0"/>
              <a:t>The top 5 grossing products contributing to the YTD are;</a:t>
            </a:r>
          </a:p>
          <a:p>
            <a:pPr marL="514350" indent="-514350">
              <a:buFont typeface="+mj-lt"/>
              <a:buAutoNum type="romanUcPeriod"/>
            </a:pPr>
            <a:r>
              <a:rPr lang="en-US" dirty="0"/>
              <a:t> Staple Envelope </a:t>
            </a:r>
          </a:p>
          <a:p>
            <a:pPr marL="514350" indent="-514350">
              <a:buFont typeface="+mj-lt"/>
              <a:buAutoNum type="romanUcPeriod"/>
            </a:pPr>
            <a:r>
              <a:rPr lang="en-US" dirty="0"/>
              <a:t> Staples</a:t>
            </a:r>
          </a:p>
          <a:p>
            <a:pPr marL="514350" indent="-514350">
              <a:buFont typeface="+mj-lt"/>
              <a:buAutoNum type="romanUcPeriod"/>
            </a:pPr>
            <a:r>
              <a:rPr lang="en-US" dirty="0"/>
              <a:t> Easy-staple papers</a:t>
            </a:r>
          </a:p>
          <a:p>
            <a:pPr marL="514350" indent="-514350">
              <a:buFont typeface="+mj-lt"/>
              <a:buAutoNum type="romanUcPeriod"/>
            </a:pPr>
            <a:r>
              <a:rPr lang="en-US" dirty="0"/>
              <a:t> Staples in misc. colors</a:t>
            </a:r>
          </a:p>
          <a:p>
            <a:pPr marL="514350" indent="-514350">
              <a:buFont typeface="+mj-lt"/>
              <a:buAutoNum type="romanUcPeriod"/>
            </a:pPr>
            <a:r>
              <a:rPr lang="en-US" dirty="0"/>
              <a:t> KI Adjustable-Height Tables</a:t>
            </a:r>
          </a:p>
          <a:p>
            <a:pPr marL="514350" indent="-514350">
              <a:buFont typeface="+mj-lt"/>
              <a:buAutoNum type="romanUcPeriod"/>
            </a:pPr>
            <a:endParaRPr lang="en-US" dirty="0"/>
          </a:p>
          <a:p>
            <a:pPr marL="0" indent="0">
              <a:buNone/>
            </a:pPr>
            <a:r>
              <a:rPr lang="en-US" b="1" dirty="0"/>
              <a:t>Bottom 5 are;</a:t>
            </a:r>
          </a:p>
          <a:p>
            <a:pPr marL="514350" indent="-514350">
              <a:buFont typeface="+mj-lt"/>
              <a:buAutoNum type="romanUcPeriod"/>
            </a:pPr>
            <a:r>
              <a:rPr lang="en-US" sz="2000" dirty="0"/>
              <a:t>Eldon Jumbo Profile Portable file Boxes Graphite/White</a:t>
            </a:r>
          </a:p>
          <a:p>
            <a:pPr marL="514350" indent="-514350">
              <a:buFont typeface="+mj-lt"/>
              <a:buAutoNum type="romanUcPeriod"/>
            </a:pPr>
            <a:r>
              <a:rPr lang="en-US" sz="2000" dirty="0"/>
              <a:t>Lexmark X9575 Professional All-in-one Color Printer</a:t>
            </a:r>
          </a:p>
          <a:p>
            <a:pPr marL="514350" indent="-514350">
              <a:buFont typeface="+mj-lt"/>
              <a:buAutoNum type="romanUcPeriod"/>
            </a:pPr>
            <a:r>
              <a:rPr lang="en-US" sz="2000" dirty="0"/>
              <a:t>Cisco SPA 525G2 5-Line IP Phone </a:t>
            </a:r>
          </a:p>
          <a:p>
            <a:pPr marL="514350" indent="-514350">
              <a:buFont typeface="+mj-lt"/>
              <a:buAutoNum type="romanUcPeriod"/>
            </a:pPr>
            <a:r>
              <a:rPr lang="en-US" sz="2000" dirty="0"/>
              <a:t>Xerox Blank Computer Paper</a:t>
            </a:r>
          </a:p>
          <a:p>
            <a:pPr marL="514350" indent="-514350">
              <a:buFont typeface="+mj-lt"/>
              <a:buAutoNum type="romanUcPeriod"/>
            </a:pPr>
            <a:r>
              <a:rPr lang="en-US" sz="2000" dirty="0" err="1"/>
              <a:t>Rediform</a:t>
            </a:r>
            <a:r>
              <a:rPr lang="en-US" sz="2000" dirty="0"/>
              <a:t> S.O.S Phone Message Books</a:t>
            </a:r>
          </a:p>
        </p:txBody>
      </p:sp>
    </p:spTree>
    <p:extLst>
      <p:ext uri="{BB962C8B-B14F-4D97-AF65-F5344CB8AC3E}">
        <p14:creationId xmlns:p14="http://schemas.microsoft.com/office/powerpoint/2010/main" val="3024051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2E0C-BB0B-79EC-E375-5EED7E6980BE}"/>
              </a:ext>
            </a:extLst>
          </p:cNvPr>
          <p:cNvSpPr>
            <a:spLocks noGrp="1"/>
          </p:cNvSpPr>
          <p:nvPr>
            <p:ph type="title"/>
          </p:nvPr>
        </p:nvSpPr>
        <p:spPr/>
        <p:txBody>
          <a:bodyPr/>
          <a:lstStyle/>
          <a:p>
            <a:pPr algn="ctr"/>
            <a:r>
              <a:rPr lang="en-US" b="1" dirty="0"/>
              <a:t>CUSTOMER TYPE</a:t>
            </a:r>
          </a:p>
        </p:txBody>
      </p:sp>
      <p:sp>
        <p:nvSpPr>
          <p:cNvPr id="3" name="Content Placeholder 2">
            <a:extLst>
              <a:ext uri="{FF2B5EF4-FFF2-40B4-BE49-F238E27FC236}">
                <a16:creationId xmlns:a16="http://schemas.microsoft.com/office/drawing/2014/main" id="{6B9D32B2-C9B3-0E67-E5AD-C388D270D3CC}"/>
              </a:ext>
            </a:extLst>
          </p:cNvPr>
          <p:cNvSpPr>
            <a:spLocks noGrp="1"/>
          </p:cNvSpPr>
          <p:nvPr>
            <p:ph idx="1"/>
          </p:nvPr>
        </p:nvSpPr>
        <p:spPr>
          <a:xfrm>
            <a:off x="2231135" y="2638044"/>
            <a:ext cx="8092736" cy="3101983"/>
          </a:xfrm>
        </p:spPr>
        <p:txBody>
          <a:bodyPr/>
          <a:lstStyle/>
          <a:p>
            <a:pPr>
              <a:buFont typeface="Wingdings" panose="05000000000000000000" pitchFamily="2" charset="2"/>
              <a:buChar char="q"/>
            </a:pPr>
            <a:r>
              <a:rPr lang="en-US" dirty="0"/>
              <a:t> Consumer contributed 5.98M to the YTD</a:t>
            </a:r>
          </a:p>
          <a:p>
            <a:pPr>
              <a:buFont typeface="Wingdings" panose="05000000000000000000" pitchFamily="2" charset="2"/>
              <a:buChar char="q"/>
            </a:pPr>
            <a:endParaRPr lang="en-US" dirty="0"/>
          </a:p>
          <a:p>
            <a:pPr>
              <a:buFont typeface="Wingdings" panose="05000000000000000000" pitchFamily="2" charset="2"/>
              <a:buChar char="q"/>
            </a:pPr>
            <a:r>
              <a:rPr lang="en-US" dirty="0"/>
              <a:t> Corporate contributed 3.5M</a:t>
            </a:r>
          </a:p>
          <a:p>
            <a:pPr>
              <a:buFont typeface="Wingdings" panose="05000000000000000000" pitchFamily="2" charset="2"/>
              <a:buChar char="q"/>
            </a:pPr>
            <a:endParaRPr lang="en-US" dirty="0"/>
          </a:p>
          <a:p>
            <a:pPr>
              <a:buFont typeface="Wingdings" panose="05000000000000000000" pitchFamily="2" charset="2"/>
              <a:buChar char="q"/>
            </a:pPr>
            <a:r>
              <a:rPr lang="en-US" dirty="0"/>
              <a:t> Home Office contributed 2.0M</a:t>
            </a:r>
          </a:p>
          <a:p>
            <a:pPr>
              <a:buFont typeface="Wingdings" panose="05000000000000000000" pitchFamily="2" charset="2"/>
              <a:buChar char="q"/>
            </a:pPr>
            <a:endParaRPr lang="en-US" dirty="0"/>
          </a:p>
          <a:p>
            <a:pPr marL="0" indent="0">
              <a:buNone/>
            </a:pPr>
            <a:r>
              <a:rPr lang="en-US" b="1" i="1" dirty="0"/>
              <a:t>Therefore, the consumer is the highest contributor to the YTD with sales of 5.98M</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185878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1692-8751-BE74-E1B3-E3422488EC48}"/>
              </a:ext>
            </a:extLst>
          </p:cNvPr>
          <p:cNvSpPr>
            <a:spLocks noGrp="1"/>
          </p:cNvSpPr>
          <p:nvPr>
            <p:ph type="title"/>
          </p:nvPr>
        </p:nvSpPr>
        <p:spPr>
          <a:xfrm>
            <a:off x="1069848" y="265471"/>
            <a:ext cx="10058400" cy="1337187"/>
          </a:xfrm>
        </p:spPr>
        <p:txBody>
          <a:bodyPr/>
          <a:lstStyle/>
          <a:p>
            <a:pPr algn="ctr"/>
            <a:r>
              <a:rPr lang="en-US" b="1" dirty="0"/>
              <a:t>Customer Region's analysis</a:t>
            </a:r>
          </a:p>
        </p:txBody>
      </p:sp>
      <p:sp>
        <p:nvSpPr>
          <p:cNvPr id="3" name="Content Placeholder 2">
            <a:extLst>
              <a:ext uri="{FF2B5EF4-FFF2-40B4-BE49-F238E27FC236}">
                <a16:creationId xmlns:a16="http://schemas.microsoft.com/office/drawing/2014/main" id="{BF994B41-E1FB-617E-0BA7-2EC63766A20C}"/>
              </a:ext>
            </a:extLst>
          </p:cNvPr>
          <p:cNvSpPr>
            <a:spLocks noGrp="1"/>
          </p:cNvSpPr>
          <p:nvPr>
            <p:ph idx="1"/>
          </p:nvPr>
        </p:nvSpPr>
        <p:spPr>
          <a:xfrm>
            <a:off x="1069848" y="1966452"/>
            <a:ext cx="10058400" cy="3844413"/>
          </a:xfrm>
        </p:spPr>
        <p:txBody>
          <a:bodyPr>
            <a:normAutofit lnSpcReduction="10000"/>
          </a:bodyPr>
          <a:lstStyle/>
          <a:p>
            <a:pPr>
              <a:buFont typeface="Wingdings" panose="05000000000000000000" pitchFamily="2" charset="2"/>
              <a:buChar char="q"/>
            </a:pPr>
            <a:r>
              <a:rPr lang="en-US" dirty="0"/>
              <a:t> The Western region had the highest YTD of 3.72M</a:t>
            </a:r>
          </a:p>
          <a:p>
            <a:pPr>
              <a:buFont typeface="Wingdings" panose="05000000000000000000" pitchFamily="2" charset="2"/>
              <a:buChar char="q"/>
            </a:pPr>
            <a:endParaRPr lang="en-US" dirty="0"/>
          </a:p>
          <a:p>
            <a:pPr>
              <a:buFont typeface="Wingdings" panose="05000000000000000000" pitchFamily="2" charset="2"/>
              <a:buChar char="q"/>
            </a:pPr>
            <a:r>
              <a:rPr lang="en-US" dirty="0"/>
              <a:t> Eastern region had 3.27M</a:t>
            </a:r>
          </a:p>
          <a:p>
            <a:pPr>
              <a:buFont typeface="Wingdings" panose="05000000000000000000" pitchFamily="2" charset="2"/>
              <a:buChar char="q"/>
            </a:pPr>
            <a:endParaRPr lang="en-US" dirty="0"/>
          </a:p>
          <a:p>
            <a:pPr>
              <a:buFont typeface="Wingdings" panose="05000000000000000000" pitchFamily="2" charset="2"/>
              <a:buChar char="q"/>
            </a:pPr>
            <a:r>
              <a:rPr lang="en-US" dirty="0"/>
              <a:t> Central had 2.67M</a:t>
            </a:r>
          </a:p>
          <a:p>
            <a:pPr>
              <a:buFont typeface="Wingdings" panose="05000000000000000000" pitchFamily="2" charset="2"/>
              <a:buChar char="q"/>
            </a:pPr>
            <a:endParaRPr lang="en-US" dirty="0"/>
          </a:p>
          <a:p>
            <a:pPr>
              <a:buFont typeface="Wingdings" panose="05000000000000000000" pitchFamily="2" charset="2"/>
              <a:buChar char="q"/>
            </a:pPr>
            <a:r>
              <a:rPr lang="en-US" dirty="0"/>
              <a:t> The Southern region contributed the least of 1.67M</a:t>
            </a:r>
          </a:p>
          <a:p>
            <a:pPr>
              <a:buFont typeface="Wingdings" panose="05000000000000000000" pitchFamily="2" charset="2"/>
              <a:buChar char="q"/>
            </a:pPr>
            <a:endParaRPr lang="en-US" dirty="0"/>
          </a:p>
          <a:p>
            <a:pPr marL="0" indent="0">
              <a:buNone/>
            </a:pPr>
            <a:r>
              <a:rPr lang="en-US" b="1" i="1" dirty="0"/>
              <a:t>Therefore, the western region of the United States contributed significantly to the YTD Sales with a figure of 3.72M</a:t>
            </a:r>
          </a:p>
        </p:txBody>
      </p:sp>
    </p:spTree>
    <p:extLst>
      <p:ext uri="{BB962C8B-B14F-4D97-AF65-F5344CB8AC3E}">
        <p14:creationId xmlns:p14="http://schemas.microsoft.com/office/powerpoint/2010/main" val="423464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0222-6223-E6A5-F6B0-C830E9933F4C}"/>
              </a:ext>
            </a:extLst>
          </p:cNvPr>
          <p:cNvSpPr>
            <a:spLocks noGrp="1"/>
          </p:cNvSpPr>
          <p:nvPr>
            <p:ph type="title"/>
          </p:nvPr>
        </p:nvSpPr>
        <p:spPr/>
        <p:txBody>
          <a:bodyPr/>
          <a:lstStyle/>
          <a:p>
            <a:pPr algn="ctr"/>
            <a:r>
              <a:rPr lang="en-US" b="1" dirty="0"/>
              <a:t>Sales by LOGISTIC type</a:t>
            </a:r>
          </a:p>
        </p:txBody>
      </p:sp>
      <p:sp>
        <p:nvSpPr>
          <p:cNvPr id="3" name="Content Placeholder 2">
            <a:extLst>
              <a:ext uri="{FF2B5EF4-FFF2-40B4-BE49-F238E27FC236}">
                <a16:creationId xmlns:a16="http://schemas.microsoft.com/office/drawing/2014/main" id="{9EECC3C6-26DA-E68A-C10D-065D1A62946D}"/>
              </a:ext>
            </a:extLst>
          </p:cNvPr>
          <p:cNvSpPr>
            <a:spLocks noGrp="1"/>
          </p:cNvSpPr>
          <p:nvPr>
            <p:ph idx="1"/>
          </p:nvPr>
        </p:nvSpPr>
        <p:spPr>
          <a:xfrm>
            <a:off x="1600200" y="2593356"/>
            <a:ext cx="8991600" cy="3876270"/>
          </a:xfrm>
        </p:spPr>
        <p:txBody>
          <a:bodyPr>
            <a:normAutofit/>
          </a:bodyPr>
          <a:lstStyle/>
          <a:p>
            <a:pPr>
              <a:buFont typeface="Wingdings" panose="05000000000000000000" pitchFamily="2" charset="2"/>
              <a:buChar char="q"/>
            </a:pPr>
            <a:r>
              <a:rPr lang="en-US" dirty="0"/>
              <a:t> Standard shipping type contributed the highest of 6.98M to the YTD</a:t>
            </a:r>
          </a:p>
          <a:p>
            <a:pPr>
              <a:buFont typeface="Wingdings" panose="05000000000000000000" pitchFamily="2" charset="2"/>
              <a:buChar char="q"/>
            </a:pPr>
            <a:endParaRPr lang="en-US" dirty="0"/>
          </a:p>
          <a:p>
            <a:pPr>
              <a:buFont typeface="Wingdings" panose="05000000000000000000" pitchFamily="2" charset="2"/>
              <a:buChar char="q"/>
            </a:pPr>
            <a:r>
              <a:rPr lang="en-US" dirty="0"/>
              <a:t> Second class shipping is 2.2M</a:t>
            </a:r>
          </a:p>
          <a:p>
            <a:pPr>
              <a:buFont typeface="Wingdings" panose="05000000000000000000" pitchFamily="2" charset="2"/>
              <a:buChar char="q"/>
            </a:pPr>
            <a:endParaRPr lang="en-US" dirty="0"/>
          </a:p>
          <a:p>
            <a:pPr>
              <a:buFont typeface="Wingdings" panose="05000000000000000000" pitchFamily="2" charset="2"/>
              <a:buChar char="q"/>
            </a:pPr>
            <a:r>
              <a:rPr lang="en-US" dirty="0"/>
              <a:t> First-class shipping type is 1.7M</a:t>
            </a:r>
          </a:p>
          <a:p>
            <a:pPr>
              <a:buFont typeface="Wingdings" panose="05000000000000000000" pitchFamily="2" charset="2"/>
              <a:buChar char="q"/>
            </a:pPr>
            <a:endParaRPr lang="en-US" dirty="0"/>
          </a:p>
          <a:p>
            <a:pPr>
              <a:buFont typeface="Wingdings" panose="05000000000000000000" pitchFamily="2" charset="2"/>
              <a:buChar char="q"/>
            </a:pPr>
            <a:r>
              <a:rPr lang="en-US" dirty="0"/>
              <a:t> Same-day shipping type contributed the least of 596K to the YTD.</a:t>
            </a:r>
          </a:p>
          <a:p>
            <a:pPr>
              <a:buFont typeface="Wingdings" panose="05000000000000000000" pitchFamily="2" charset="2"/>
              <a:buChar char="q"/>
            </a:pPr>
            <a:endParaRPr lang="en-US" dirty="0"/>
          </a:p>
          <a:p>
            <a:pPr marL="0" indent="0">
              <a:buNone/>
            </a:pPr>
            <a:r>
              <a:rPr lang="en-US" b="1" i="1" dirty="0"/>
              <a:t>Therefore, standard shipping type remained the most preferred and efficient logistic type,  contributing 60.5% to the YTD</a:t>
            </a:r>
            <a:endParaRPr lang="en-US" dirty="0"/>
          </a:p>
        </p:txBody>
      </p:sp>
    </p:spTree>
    <p:extLst>
      <p:ext uri="{BB962C8B-B14F-4D97-AF65-F5344CB8AC3E}">
        <p14:creationId xmlns:p14="http://schemas.microsoft.com/office/powerpoint/2010/main" val="1868749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F0B98-8021-48D6-1386-17BFB58362E8}"/>
              </a:ext>
            </a:extLst>
          </p:cNvPr>
          <p:cNvSpPr>
            <a:spLocks noGrp="1"/>
          </p:cNvSpPr>
          <p:nvPr>
            <p:ph type="title"/>
          </p:nvPr>
        </p:nvSpPr>
        <p:spPr>
          <a:xfrm>
            <a:off x="1069848" y="484632"/>
            <a:ext cx="10058400" cy="1295007"/>
          </a:xfrm>
        </p:spPr>
        <p:txBody>
          <a:bodyPr/>
          <a:lstStyle/>
          <a:p>
            <a:pPr algn="ctr"/>
            <a:r>
              <a:rPr lang="en-US" b="1" dirty="0"/>
              <a:t>RECOMMENDATIONS</a:t>
            </a:r>
          </a:p>
        </p:txBody>
      </p:sp>
      <p:sp>
        <p:nvSpPr>
          <p:cNvPr id="3" name="Content Placeholder 2">
            <a:extLst>
              <a:ext uri="{FF2B5EF4-FFF2-40B4-BE49-F238E27FC236}">
                <a16:creationId xmlns:a16="http://schemas.microsoft.com/office/drawing/2014/main" id="{7BFDFA26-DCB9-1213-B65D-3F845B67B645}"/>
              </a:ext>
            </a:extLst>
          </p:cNvPr>
          <p:cNvSpPr>
            <a:spLocks noGrp="1"/>
          </p:cNvSpPr>
          <p:nvPr>
            <p:ph idx="1"/>
          </p:nvPr>
        </p:nvSpPr>
        <p:spPr>
          <a:xfrm>
            <a:off x="1066800" y="2108626"/>
            <a:ext cx="10058400" cy="4264742"/>
          </a:xfrm>
        </p:spPr>
        <p:txBody>
          <a:bodyPr>
            <a:normAutofit fontScale="85000" lnSpcReduction="20000"/>
          </a:bodyPr>
          <a:lstStyle/>
          <a:p>
            <a:pPr algn="just">
              <a:buFont typeface="Wingdings" panose="05000000000000000000" pitchFamily="2" charset="2"/>
              <a:buChar char="q"/>
            </a:pPr>
            <a:r>
              <a:rPr lang="en-US" dirty="0"/>
              <a:t> The company recorded YTD profits despite a record reduction in YTD Sales and YTD Quantity Sold. Efforts should be directed towards distributing highest grossing products and customer segments</a:t>
            </a:r>
          </a:p>
          <a:p>
            <a:pPr algn="just">
              <a:buFont typeface="Wingdings" panose="05000000000000000000" pitchFamily="2" charset="2"/>
              <a:buChar char="q"/>
            </a:pPr>
            <a:endParaRPr lang="en-US" dirty="0"/>
          </a:p>
          <a:p>
            <a:pPr algn="just">
              <a:buFont typeface="Wingdings" panose="05000000000000000000" pitchFamily="2" charset="2"/>
              <a:buChar char="q"/>
            </a:pPr>
            <a:r>
              <a:rPr lang="en-US" dirty="0"/>
              <a:t> The states with the highest customer YTD Sales include California, New York, and Texas. While the states with the least YTD Sales include Wyoming, West Virginia, Columbia, Vermont, etc. The management should </a:t>
            </a:r>
            <a:r>
              <a:rPr lang="en-US" dirty="0" err="1"/>
              <a:t>endeavour</a:t>
            </a:r>
            <a:r>
              <a:rPr lang="en-US" dirty="0"/>
              <a:t> to provide products that are preferred in the states with the highest customer base, while also exploring avenues to strengthen other products that are least purchased.</a:t>
            </a:r>
          </a:p>
          <a:p>
            <a:pPr algn="just">
              <a:buFont typeface="Wingdings" panose="05000000000000000000" pitchFamily="2" charset="2"/>
              <a:buChar char="q"/>
            </a:pPr>
            <a:endParaRPr lang="en-US" dirty="0"/>
          </a:p>
          <a:p>
            <a:pPr algn="just">
              <a:buFont typeface="Wingdings" panose="05000000000000000000" pitchFamily="2" charset="2"/>
              <a:buChar char="q"/>
            </a:pPr>
            <a:r>
              <a:rPr lang="en-US" dirty="0"/>
              <a:t> I suggest that the management should conduct a contextual analysis to identify barriers in the states with the least YTD sales and adapt lessons from states with high YTD sales to the least performing states if it’s suitable.</a:t>
            </a:r>
          </a:p>
          <a:p>
            <a:pPr algn="just">
              <a:buFont typeface="Wingdings" panose="05000000000000000000" pitchFamily="2" charset="2"/>
              <a:buChar char="q"/>
            </a:pPr>
            <a:endParaRPr lang="en-US" dirty="0"/>
          </a:p>
          <a:p>
            <a:pPr algn="just">
              <a:buFont typeface="Wingdings" panose="05000000000000000000" pitchFamily="2" charset="2"/>
              <a:buChar char="q"/>
            </a:pPr>
            <a:r>
              <a:rPr lang="en-US" dirty="0"/>
              <a:t> The management should re-</a:t>
            </a:r>
            <a:r>
              <a:rPr lang="en-US" dirty="0" err="1"/>
              <a:t>strategise</a:t>
            </a:r>
            <a:r>
              <a:rPr lang="en-US" dirty="0"/>
              <a:t> regarding the shipping type for some of the low YTD sales products, especially Eldon Jumbo Profile Portable file Boxes Graphite/White, as it seems as though the logistic types contribute to their low performance.</a:t>
            </a:r>
          </a:p>
          <a:p>
            <a:pPr algn="just">
              <a:buFont typeface="Wingdings" panose="05000000000000000000" pitchFamily="2" charset="2"/>
              <a:buChar char="q"/>
            </a:pPr>
            <a:endParaRPr lang="en-US" dirty="0"/>
          </a:p>
          <a:p>
            <a:pPr algn="just">
              <a:buFont typeface="Wingdings" panose="05000000000000000000" pitchFamily="2" charset="2"/>
              <a:buChar char="q"/>
            </a:pPr>
            <a:r>
              <a:rPr lang="en-US" dirty="0"/>
              <a:t>The management should invest more in the products with high YTD sales to foster </a:t>
            </a:r>
            <a:r>
              <a:rPr lang="en-US"/>
              <a:t>customer retention.</a:t>
            </a:r>
            <a:endParaRPr lang="en-US" dirty="0"/>
          </a:p>
          <a:p>
            <a:pPr algn="just">
              <a:buFont typeface="Wingdings" panose="05000000000000000000" pitchFamily="2" charset="2"/>
              <a:buChar char="q"/>
            </a:pPr>
            <a:endParaRPr lang="en-US" dirty="0"/>
          </a:p>
          <a:p>
            <a:pPr algn="just">
              <a:buFont typeface="Wingdings" panose="05000000000000000000" pitchFamily="2" charset="2"/>
              <a:buChar char="q"/>
            </a:pPr>
            <a:endParaRPr lang="en-US" dirty="0"/>
          </a:p>
          <a:p>
            <a:pPr algn="just">
              <a:buFont typeface="Wingdings" panose="05000000000000000000" pitchFamily="2" charset="2"/>
              <a:buChar char="q"/>
            </a:pPr>
            <a:endParaRPr lang="en-US" dirty="0"/>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3252849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6374C9-31CF-BDC0-FB0F-7972BE5D05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9098" y="1671483"/>
            <a:ext cx="4925960" cy="4503173"/>
          </a:xfrm>
          <a:prstGeom prst="rect">
            <a:avLst/>
          </a:prstGeom>
        </p:spPr>
      </p:pic>
      <p:pic>
        <p:nvPicPr>
          <p:cNvPr id="7" name="Picture 6">
            <a:extLst>
              <a:ext uri="{FF2B5EF4-FFF2-40B4-BE49-F238E27FC236}">
                <a16:creationId xmlns:a16="http://schemas.microsoft.com/office/drawing/2014/main" id="{13CA1A59-8AAF-6CFC-D1E1-713D2B2DBE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15727"/>
            <a:ext cx="5043948" cy="4414683"/>
          </a:xfrm>
          <a:prstGeom prst="rect">
            <a:avLst/>
          </a:prstGeom>
        </p:spPr>
      </p:pic>
      <p:sp>
        <p:nvSpPr>
          <p:cNvPr id="8" name="TextBox 7">
            <a:extLst>
              <a:ext uri="{FF2B5EF4-FFF2-40B4-BE49-F238E27FC236}">
                <a16:creationId xmlns:a16="http://schemas.microsoft.com/office/drawing/2014/main" id="{894EF11B-799F-6A3A-251E-A147BB0E9626}"/>
              </a:ext>
            </a:extLst>
          </p:cNvPr>
          <p:cNvSpPr txBox="1"/>
          <p:nvPr/>
        </p:nvSpPr>
        <p:spPr>
          <a:xfrm>
            <a:off x="1602659" y="353962"/>
            <a:ext cx="9144000" cy="1077218"/>
          </a:xfrm>
          <a:prstGeom prst="rect">
            <a:avLst/>
          </a:prstGeom>
          <a:noFill/>
        </p:spPr>
        <p:txBody>
          <a:bodyPr wrap="square" rtlCol="0">
            <a:spAutoFit/>
          </a:bodyPr>
          <a:lstStyle/>
          <a:p>
            <a:pPr algn="ctr"/>
            <a:r>
              <a:rPr lang="en-US" sz="3200" b="1" dirty="0"/>
              <a:t>HIGHEST AND </a:t>
            </a:r>
            <a:r>
              <a:rPr lang="en-US" sz="3200" b="1"/>
              <a:t>LOWEST  YTD </a:t>
            </a:r>
            <a:r>
              <a:rPr lang="en-US" sz="3200" b="1" dirty="0"/>
              <a:t>SALES BY PRODUCTS</a:t>
            </a:r>
          </a:p>
        </p:txBody>
      </p:sp>
    </p:spTree>
    <p:extLst>
      <p:ext uri="{BB962C8B-B14F-4D97-AF65-F5344CB8AC3E}">
        <p14:creationId xmlns:p14="http://schemas.microsoft.com/office/powerpoint/2010/main" val="3265029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4739-DD9F-83E8-9876-D7169405D394}"/>
              </a:ext>
            </a:extLst>
          </p:cNvPr>
          <p:cNvSpPr>
            <a:spLocks noGrp="1"/>
          </p:cNvSpPr>
          <p:nvPr>
            <p:ph type="title"/>
          </p:nvPr>
        </p:nvSpPr>
        <p:spPr>
          <a:xfrm>
            <a:off x="2122981" y="561569"/>
            <a:ext cx="7729728" cy="1188720"/>
          </a:xfrm>
        </p:spPr>
        <p:txBody>
          <a:bodyPr/>
          <a:lstStyle/>
          <a:p>
            <a:pPr algn="ctr"/>
            <a:r>
              <a:rPr lang="en-US" b="1" dirty="0"/>
              <a:t>CUSTOMER REGION CHART</a:t>
            </a:r>
          </a:p>
        </p:txBody>
      </p:sp>
      <p:pic>
        <p:nvPicPr>
          <p:cNvPr id="5" name="Content Placeholder 4">
            <a:extLst>
              <a:ext uri="{FF2B5EF4-FFF2-40B4-BE49-F238E27FC236}">
                <a16:creationId xmlns:a16="http://schemas.microsoft.com/office/drawing/2014/main" id="{918D1425-58B9-CF68-CF02-B3BD4A2B52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7327" y="2093976"/>
            <a:ext cx="6204155" cy="3913534"/>
          </a:xfrm>
          <a:prstGeom prst="rect">
            <a:avLst/>
          </a:prstGeom>
        </p:spPr>
      </p:pic>
    </p:spTree>
    <p:extLst>
      <p:ext uri="{BB962C8B-B14F-4D97-AF65-F5344CB8AC3E}">
        <p14:creationId xmlns:p14="http://schemas.microsoft.com/office/powerpoint/2010/main" val="825027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78A74-CAD9-784C-80CC-3C44790ECC59}"/>
              </a:ext>
            </a:extLst>
          </p:cNvPr>
          <p:cNvSpPr>
            <a:spLocks noGrp="1"/>
          </p:cNvSpPr>
          <p:nvPr>
            <p:ph type="title"/>
          </p:nvPr>
        </p:nvSpPr>
        <p:spPr>
          <a:xfrm>
            <a:off x="2231136" y="512408"/>
            <a:ext cx="7729728" cy="1188720"/>
          </a:xfrm>
        </p:spPr>
        <p:txBody>
          <a:bodyPr/>
          <a:lstStyle/>
          <a:p>
            <a:pPr algn="ctr"/>
            <a:r>
              <a:rPr lang="en-US" b="1" dirty="0"/>
              <a:t>SHIPPING TYPE CHART</a:t>
            </a:r>
          </a:p>
        </p:txBody>
      </p:sp>
      <p:pic>
        <p:nvPicPr>
          <p:cNvPr id="5" name="Content Placeholder 4">
            <a:extLst>
              <a:ext uri="{FF2B5EF4-FFF2-40B4-BE49-F238E27FC236}">
                <a16:creationId xmlns:a16="http://schemas.microsoft.com/office/drawing/2014/main" id="{9DEFFC43-B9F8-ECB3-95FA-D2BF0063D3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9058" y="2093976"/>
            <a:ext cx="5633884" cy="3726720"/>
          </a:xfrm>
          <a:prstGeom prst="rect">
            <a:avLst/>
          </a:prstGeom>
        </p:spPr>
      </p:pic>
    </p:spTree>
    <p:extLst>
      <p:ext uri="{BB962C8B-B14F-4D97-AF65-F5344CB8AC3E}">
        <p14:creationId xmlns:p14="http://schemas.microsoft.com/office/powerpoint/2010/main" val="5656781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143</TotalTime>
  <Words>528</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Gill Sans MT</vt:lpstr>
      <vt:lpstr>Wingdings</vt:lpstr>
      <vt:lpstr>Parcel</vt:lpstr>
      <vt:lpstr>ECOMMERCE DASHBOARD REPORT</vt:lpstr>
      <vt:lpstr>EXECUTIVE SUMMARY</vt:lpstr>
      <vt:lpstr>SALES PERFORMANCE BY PRODUCT</vt:lpstr>
      <vt:lpstr>CUSTOMER TYPE</vt:lpstr>
      <vt:lpstr>Customer Region's analysis</vt:lpstr>
      <vt:lpstr>Sales by LOGISTIC type</vt:lpstr>
      <vt:lpstr>RECOMMENDATIONS</vt:lpstr>
      <vt:lpstr>PowerPoint Presentation</vt:lpstr>
      <vt:lpstr>CUSTOMER REGION CHART</vt:lpstr>
      <vt:lpstr>SHIPPING TYPE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Tolulope Israel Oni</dc:creator>
  <cp:lastModifiedBy>Tolulope Israel Oni</cp:lastModifiedBy>
  <cp:revision>5</cp:revision>
  <dcterms:created xsi:type="dcterms:W3CDTF">2026-02-19T13:05:50Z</dcterms:created>
  <dcterms:modified xsi:type="dcterms:W3CDTF">2026-03-03T22:28:03Z</dcterms:modified>
</cp:coreProperties>
</file>